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handoutMasterIdLst>
    <p:handoutMasterId r:id="rId14"/>
  </p:handoutMasterIdLst>
  <p:sldIdLst>
    <p:sldId id="312" r:id="rId2"/>
    <p:sldId id="314" r:id="rId3"/>
    <p:sldId id="315" r:id="rId4"/>
    <p:sldId id="316" r:id="rId5"/>
    <p:sldId id="318" r:id="rId6"/>
    <p:sldId id="317" r:id="rId7"/>
    <p:sldId id="319" r:id="rId8"/>
    <p:sldId id="322" r:id="rId9"/>
    <p:sldId id="320" r:id="rId10"/>
    <p:sldId id="321" r:id="rId11"/>
    <p:sldId id="323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光迪" initials="张" lastIdx="1" clrIdx="0">
    <p:extLst>
      <p:ext uri="{19B8F6BF-5375-455C-9EA6-DF929625EA0E}">
        <p15:presenceInfo xmlns:p15="http://schemas.microsoft.com/office/powerpoint/2012/main" userId="6150ce5b143b2c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78F"/>
    <a:srgbClr val="3B485B"/>
    <a:srgbClr val="DF5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352" autoAdjust="0"/>
  </p:normalViewPr>
  <p:slideViewPr>
    <p:cSldViewPr snapToGrid="0">
      <p:cViewPr varScale="1">
        <p:scale>
          <a:sx n="113" d="100"/>
          <a:sy n="113" d="100"/>
        </p:scale>
        <p:origin x="4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6" d="100"/>
          <a:sy n="36" d="100"/>
        </p:scale>
        <p:origin x="869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EB298-4B97-4A22-B537-F20B11757422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279BB-3A3A-42D6-95A5-E371064A8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25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A2B54-6606-476A-9C22-384023786D94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21462-D095-4E59-A8AC-4FBA96965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35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41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25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483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924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96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811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5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392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550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1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AA98F-6474-4A59-A3C8-82662F36626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1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18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17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09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9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85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1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59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35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27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34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6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5B042-2611-48EE-877C-47298E45363E}" type="datetimeFigureOut">
              <a:rPr lang="zh-CN" altLang="en-US" smtClean="0"/>
              <a:t>2022/11/30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D16D4-0707-4832-880B-56FDBD973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4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圆角矩形 3"/>
          <p:cNvSpPr/>
          <p:nvPr>
            <p:custDataLst>
              <p:tags r:id="rId1"/>
            </p:custDataLst>
          </p:nvPr>
        </p:nvSpPr>
        <p:spPr>
          <a:xfrm rot="2700000">
            <a:off x="8659760" y="144820"/>
            <a:ext cx="863146" cy="863146"/>
          </a:xfrm>
          <a:prstGeom prst="roundRect">
            <a:avLst/>
          </a:prstGeom>
          <a:gradFill>
            <a:gsLst>
              <a:gs pos="0">
                <a:srgbClr val="FFFFFF">
                  <a:alpha val="40000"/>
                </a:srgbClr>
              </a:gs>
              <a:gs pos="100000">
                <a:schemeClr val="bg1">
                  <a:lumMod val="95000"/>
                  <a:alpha val="37000"/>
                </a:schemeClr>
              </a:gs>
            </a:gsLst>
            <a:lin ang="15000000" scaled="0"/>
          </a:gradFill>
          <a:ln w="25400">
            <a:noFill/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PA_圆角矩形 3"/>
          <p:cNvSpPr/>
          <p:nvPr>
            <p:custDataLst>
              <p:tags r:id="rId2"/>
            </p:custDataLst>
          </p:nvPr>
        </p:nvSpPr>
        <p:spPr>
          <a:xfrm rot="2700000">
            <a:off x="6743003" y="1595493"/>
            <a:ext cx="653439" cy="653439"/>
          </a:xfrm>
          <a:prstGeom prst="roundRect">
            <a:avLst/>
          </a:prstGeom>
          <a:gradFill>
            <a:gsLst>
              <a:gs pos="0">
                <a:srgbClr val="FFFFFF">
                  <a:alpha val="40000"/>
                </a:srgbClr>
              </a:gs>
              <a:gs pos="100000">
                <a:schemeClr val="bg1">
                  <a:lumMod val="95000"/>
                  <a:alpha val="37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PA_圆角矩形 3"/>
          <p:cNvSpPr/>
          <p:nvPr>
            <p:custDataLst>
              <p:tags r:id="rId3"/>
            </p:custDataLst>
          </p:nvPr>
        </p:nvSpPr>
        <p:spPr>
          <a:xfrm rot="2700000">
            <a:off x="5818900" y="1029718"/>
            <a:ext cx="653439" cy="65343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PA_圆角矩形 3"/>
          <p:cNvSpPr/>
          <p:nvPr>
            <p:custDataLst>
              <p:tags r:id="rId4"/>
            </p:custDataLst>
          </p:nvPr>
        </p:nvSpPr>
        <p:spPr>
          <a:xfrm rot="2700000">
            <a:off x="7510531" y="80606"/>
            <a:ext cx="653439" cy="65343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72134" y="2383750"/>
            <a:ext cx="110591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根据</a:t>
            </a:r>
            <a:r>
              <a:rPr lang="en-US" altLang="zh-CN" sz="48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aisle</a:t>
            </a:r>
            <a:r>
              <a:rPr lang="zh-CN" altLang="en-US" sz="48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字段</a:t>
            </a:r>
            <a:endParaRPr lang="en-US" altLang="zh-CN" sz="48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48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商品类中关联规则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5569733" y="4117695"/>
            <a:ext cx="5942326" cy="0"/>
          </a:xfrm>
          <a:prstGeom prst="line">
            <a:avLst/>
          </a:prstGeom>
          <a:ln>
            <a:solidFill>
              <a:srgbClr val="1847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125952" y="4263757"/>
            <a:ext cx="6829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周晓彤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965" y="3116756"/>
            <a:ext cx="1897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LOGO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PA_圆角矩形 3"/>
          <p:cNvSpPr/>
          <p:nvPr>
            <p:custDataLst>
              <p:tags r:id="rId5"/>
            </p:custDataLst>
          </p:nvPr>
        </p:nvSpPr>
        <p:spPr>
          <a:xfrm rot="2700000">
            <a:off x="7427403" y="1029721"/>
            <a:ext cx="653439" cy="65343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1" name="Picture 27" descr="C:\Users\tom\Desktop\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49238"/>
            <a:ext cx="3963830" cy="115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814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6" grpId="0"/>
      <p:bldP spid="18" grpId="0"/>
      <p:bldP spid="19" grpId="0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数据预处理（</a:t>
            </a:r>
            <a:r>
              <a:rPr lang="en-US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18478F"/>
              </a:solidFill>
              <a:latin typeface="SimSun" panose="02010600030101010101" pitchFamily="2" charset="-122"/>
              <a:ea typeface="SimSun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802737" y="1392776"/>
            <a:ext cx="10542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在数据导入时，我们发现</a:t>
            </a:r>
            <a:r>
              <a:rPr lang="en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product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数据中存在中文，故在数据预处理第一步将中文将中文剔除，代码如下：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30E55B-AC5A-1AEB-619C-3258DE76E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37" y="2420895"/>
            <a:ext cx="7777281" cy="1764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FB315F8-80E3-E925-DCB5-B94EB62180CC}"/>
              </a:ext>
            </a:extLst>
          </p:cNvPr>
          <p:cNvSpPr txBox="1"/>
          <p:nvPr/>
        </p:nvSpPr>
        <p:spPr>
          <a:xfrm>
            <a:off x="869330" y="4343902"/>
            <a:ext cx="1054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对比结果如下：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809C73-88D7-8261-D962-DEA92DA91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37" y="5058824"/>
            <a:ext cx="7442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数据预处理（</a:t>
            </a:r>
            <a:r>
              <a:rPr lang="en-US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18478F"/>
              </a:solidFill>
              <a:latin typeface="SimSun" panose="02010600030101010101" pitchFamily="2" charset="-122"/>
              <a:ea typeface="SimSun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741751" y="1407535"/>
            <a:ext cx="8482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由于该部分需要根据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字段概化商品为商品类，这里根据</a:t>
            </a: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</a:rPr>
              <a:t>product_id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product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表中找到商品相对应的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aisle_id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，并添加列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aisle_id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至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order_type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表，代码如下：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B315F8-80E3-E925-DCB5-B94EB62180CC}"/>
              </a:ext>
            </a:extLst>
          </p:cNvPr>
          <p:cNvSpPr txBox="1"/>
          <p:nvPr/>
        </p:nvSpPr>
        <p:spPr>
          <a:xfrm>
            <a:off x="741751" y="3837666"/>
            <a:ext cx="8399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其次，我们再根据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aisle_id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表中找到相对应的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名称，重复上述动作，代码如下：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4142C2-6E10-6202-7E51-CAAD6DCD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36" y="2655765"/>
            <a:ext cx="7797236" cy="1134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8071F4-67D1-80A7-E537-3F441D1C6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981" y="631074"/>
            <a:ext cx="1987700" cy="31550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9341E9-2CE1-649E-F5F6-3CD53BE97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751" y="4716564"/>
            <a:ext cx="7772400" cy="10812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443842-8E62-2FAA-294D-208EC6C18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1066" y="4250137"/>
            <a:ext cx="2776699" cy="1791757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3469B7F-941A-F03D-BE8D-12B4300499F8}"/>
              </a:ext>
            </a:extLst>
          </p:cNvPr>
          <p:cNvCxnSpPr/>
          <p:nvPr/>
        </p:nvCxnSpPr>
        <p:spPr>
          <a:xfrm flipV="1">
            <a:off x="7154908" y="3071848"/>
            <a:ext cx="2179846" cy="562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620C3E35-2906-6F22-8FE6-898EFE6D2E0D}"/>
              </a:ext>
            </a:extLst>
          </p:cNvPr>
          <p:cNvCxnSpPr/>
          <p:nvPr/>
        </p:nvCxnSpPr>
        <p:spPr>
          <a:xfrm flipV="1">
            <a:off x="6961220" y="5067173"/>
            <a:ext cx="2179846" cy="562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0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数据预处理（</a:t>
            </a:r>
            <a:r>
              <a:rPr lang="en-US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）</a:t>
            </a:r>
            <a:endParaRPr lang="en-US" altLang="zh-CN" sz="2400" dirty="0">
              <a:solidFill>
                <a:srgbClr val="18478F"/>
              </a:solidFill>
              <a:latin typeface="SimSun" panose="02010600030101010101" pitchFamily="2" charset="-122"/>
              <a:ea typeface="SimSun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741751" y="1407535"/>
            <a:ext cx="10700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最后，对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aisle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数据列做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One-Hot encode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处理，代码和结果如下：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A0EB12-6318-20E9-C1D5-13601263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36" y="2081081"/>
            <a:ext cx="8695733" cy="17983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4F922F9-390E-87CA-800D-9E4E469EF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36" y="4091322"/>
            <a:ext cx="8695732" cy="221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0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  <a:sym typeface="+mn-lt"/>
              </a:rPr>
              <a:t>数据预览</a:t>
            </a:r>
            <a:endParaRPr lang="en-US" altLang="zh-CN" sz="2400" dirty="0">
              <a:solidFill>
                <a:srgbClr val="18478F"/>
              </a:solidFill>
              <a:latin typeface="SimSun" panose="02010600030101010101" pitchFamily="2" charset="-122"/>
              <a:ea typeface="SimSun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741751" y="1642318"/>
            <a:ext cx="4241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在进行完数据预处理后，我们用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Tree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Map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对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order_type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表中最常出现的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aisle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字段进行统计和可视化展示，结果如右图所示：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0B5E4C-3F1A-21E0-8A4A-4556AA397669}"/>
              </a:ext>
            </a:extLst>
          </p:cNvPr>
          <p:cNvSpPr txBox="1"/>
          <p:nvPr/>
        </p:nvSpPr>
        <p:spPr>
          <a:xfrm>
            <a:off x="741751" y="3726294"/>
            <a:ext cx="4241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其中，可见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packaged</a:t>
            </a:r>
            <a:r>
              <a:rPr lang="zh-CN" altLang="en-US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vegetables</a:t>
            </a:r>
            <a:r>
              <a:rPr lang="zh-CN" altLang="en-US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fruits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fresh</a:t>
            </a:r>
            <a:r>
              <a:rPr lang="zh-CN" altLang="en-US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fruits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fresh</a:t>
            </a:r>
            <a:r>
              <a:rPr lang="zh-CN" altLang="en-US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vegetables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是顾客最常购买的商品类别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C235E1-FADB-CAB8-A775-0506C1E26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417" y="101073"/>
            <a:ext cx="6667350" cy="665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8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 err="1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Apriori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642895" y="1580533"/>
            <a:ext cx="3543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这里以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的综合排序，截取前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个关联规则，结果如右图所示：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53C5B4-BA6A-82A8-C9F4-023F384895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04"/>
          <a:stretch/>
        </p:blipFill>
        <p:spPr>
          <a:xfrm>
            <a:off x="4285735" y="1283508"/>
            <a:ext cx="7663249" cy="52300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CA32E72-E874-97C1-4FF5-F23D8044F453}"/>
              </a:ext>
            </a:extLst>
          </p:cNvPr>
          <p:cNvSpPr txBox="1"/>
          <p:nvPr/>
        </p:nvSpPr>
        <p:spPr>
          <a:xfrm>
            <a:off x="642895" y="2981075"/>
            <a:ext cx="3543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其中可见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都大于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，可见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antecedents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consequents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呈正相关关系，顾客在购买前者的时候更倾向于加购后者。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859822-9477-D6BE-63A4-A78583EFE334}"/>
              </a:ext>
            </a:extLst>
          </p:cNvPr>
          <p:cNvSpPr txBox="1"/>
          <p:nvPr/>
        </p:nvSpPr>
        <p:spPr>
          <a:xfrm>
            <a:off x="642895" y="4689393"/>
            <a:ext cx="3543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Max. lift = 2.01</a:t>
            </a:r>
          </a:p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Max. confidence = 0.91</a:t>
            </a:r>
          </a:p>
        </p:txBody>
      </p:sp>
    </p:spTree>
    <p:extLst>
      <p:ext uri="{BB962C8B-B14F-4D97-AF65-F5344CB8AC3E}">
        <p14:creationId xmlns:p14="http://schemas.microsoft.com/office/powerpoint/2010/main" val="323409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 err="1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Apriori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741751" y="1407535"/>
            <a:ext cx="3543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之后，我们将前面得到的前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个关联规则，以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参数为标准，以矩阵形式画出，结果如右图所示：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64D3-E3EF-8D70-5412-85AE5E1C69C3}"/>
              </a:ext>
            </a:extLst>
          </p:cNvPr>
          <p:cNvSpPr txBox="1"/>
          <p:nvPr/>
        </p:nvSpPr>
        <p:spPr>
          <a:xfrm>
            <a:off x="741751" y="2849753"/>
            <a:ext cx="35439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其中，我们发现大部份关联规则的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antecedents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都与订单中最常出现的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fresh</a:t>
            </a:r>
            <a:r>
              <a:rPr lang="zh-CN" altLang="en-US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fruits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fresh</a:t>
            </a:r>
            <a:r>
              <a:rPr lang="zh-CN" altLang="en-US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vegetables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相关。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我们推测其原因在于新鲜水果和新鲜蔬菜类商品</a:t>
            </a:r>
            <a:r>
              <a:rPr lang="zh-CN" altLang="en-US" sz="2000" u="sng" dirty="0">
                <a:latin typeface="SimSun" panose="02010600030101010101" pitchFamily="2" charset="-122"/>
                <a:ea typeface="SimSun" panose="02010600030101010101" pitchFamily="2" charset="-122"/>
              </a:rPr>
              <a:t>概括性较高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，顾客来到超市普遍也都处于买菜的目的，对此需求较高，购买也较为频繁。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1F5A5F-A08E-9E01-72C3-C7DB6130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735" y="137938"/>
            <a:ext cx="7772400" cy="65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2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 err="1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Apriori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460646" y="1265132"/>
            <a:ext cx="4976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为了简化画图步骤和计算算法使用时间，这里我们将数据带去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r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语言中继续分析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右图为关联规则的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scatter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plot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shading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数值大小：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64D3-E3EF-8D70-5412-85AE5E1C69C3}"/>
              </a:ext>
            </a:extLst>
          </p:cNvPr>
          <p:cNvSpPr txBox="1"/>
          <p:nvPr/>
        </p:nvSpPr>
        <p:spPr>
          <a:xfrm>
            <a:off x="6697326" y="5057308"/>
            <a:ext cx="4436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左图为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graph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图，其中，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shading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表示了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的数值大小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运行时间：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0.4s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426823-34C8-9F01-72E4-7FD01418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517" y="202146"/>
            <a:ext cx="6274374" cy="46667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AAE3FC7-80A9-487A-CEB6-9D1B7792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93" y="2640959"/>
            <a:ext cx="5619424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5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FP-growth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64D3-E3EF-8D70-5412-85AE5E1C69C3}"/>
              </a:ext>
            </a:extLst>
          </p:cNvPr>
          <p:cNvSpPr txBox="1"/>
          <p:nvPr/>
        </p:nvSpPr>
        <p:spPr>
          <a:xfrm>
            <a:off x="605825" y="5517002"/>
            <a:ext cx="3543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Max. lift = 1.32</a:t>
            </a:r>
          </a:p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Max. confidence = 0.73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21CDCD-3AF2-AE63-B1A9-22685AAE64D3}"/>
              </a:ext>
            </a:extLst>
          </p:cNvPr>
          <p:cNvSpPr txBox="1"/>
          <p:nvPr/>
        </p:nvSpPr>
        <p:spPr>
          <a:xfrm>
            <a:off x="605825" y="1340998"/>
            <a:ext cx="35439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这里同样以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的综合排序，但在输出结果时我们发现算法中有相同的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antecedents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consequents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项集的出现，这里推测是因为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FP-Tree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对于数据排序敏感的原因导致。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删除相同项后，截取前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个关联规则，结果如右图所示：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1410DA-FC73-0E06-0BFD-5E160D3918BB}"/>
              </a:ext>
            </a:extLst>
          </p:cNvPr>
          <p:cNvSpPr txBox="1"/>
          <p:nvPr/>
        </p:nvSpPr>
        <p:spPr>
          <a:xfrm>
            <a:off x="605825" y="4656441"/>
            <a:ext cx="3543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FP-growth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算法中的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同样都大于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，为正相关关系。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EB55F2-060D-FE2D-7D8C-BCC35E496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66" y="698899"/>
            <a:ext cx="7772400" cy="56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FP-growth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741751" y="1407535"/>
            <a:ext cx="3543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我们将前面得到的前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个关联规则，同样以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参数为标准，以矩阵形式画出，结果如右图所示：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64D3-E3EF-8D70-5412-85AE5E1C69C3}"/>
              </a:ext>
            </a:extLst>
          </p:cNvPr>
          <p:cNvSpPr txBox="1"/>
          <p:nvPr/>
        </p:nvSpPr>
        <p:spPr>
          <a:xfrm>
            <a:off x="741751" y="2942855"/>
            <a:ext cx="35439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与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Apriori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算法的矩阵相对比，我们发现图中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consequents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与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antecedents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的比例显然更为平均。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除此之外，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数值都较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Apriori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算法有所下降，这里猜测是因为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antecedents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consequents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相集长度也相对减少，所以相关程度有所下降。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E60252-9173-B7D0-3B39-4B25A67AB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735" y="593355"/>
            <a:ext cx="7772400" cy="567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009336" y="489645"/>
            <a:ext cx="2973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" altLang="zh-CN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FP-growth</a:t>
            </a:r>
            <a:r>
              <a:rPr lang="zh-CN" altLang="en-US" sz="2400" dirty="0">
                <a:solidFill>
                  <a:srgbClr val="18478F"/>
                </a:solidFill>
                <a:latin typeface="SimSun" panose="02010600030101010101" pitchFamily="2" charset="-122"/>
                <a:ea typeface="SimSun" panose="02010600030101010101" pitchFamily="2" charset="-122"/>
                <a:cs typeface="+mn-ea"/>
              </a:rPr>
              <a:t>算法</a:t>
            </a:r>
          </a:p>
        </p:txBody>
      </p:sp>
      <p:sp>
        <p:nvSpPr>
          <p:cNvPr id="57" name="圆角矩形 56"/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20260" y="406512"/>
            <a:ext cx="76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1847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zh-CN" altLang="en-US" sz="3200" dirty="0">
              <a:solidFill>
                <a:srgbClr val="1847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DEBC2-36F9-F21D-4F39-701D1229DDF5}"/>
              </a:ext>
            </a:extLst>
          </p:cNvPr>
          <p:cNvSpPr txBox="1"/>
          <p:nvPr/>
        </p:nvSpPr>
        <p:spPr>
          <a:xfrm>
            <a:off x="460646" y="1265132"/>
            <a:ext cx="4976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右图为关联规则的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scatter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plot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shading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lift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数值大小：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C64D3-E3EF-8D70-5412-85AE5E1C69C3}"/>
              </a:ext>
            </a:extLst>
          </p:cNvPr>
          <p:cNvSpPr txBox="1"/>
          <p:nvPr/>
        </p:nvSpPr>
        <p:spPr>
          <a:xfrm>
            <a:off x="6697326" y="5057308"/>
            <a:ext cx="4436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左图为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graph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图，其中，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shading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表示了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confidence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的数值大小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运行时间：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0.4s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426823-34C8-9F01-72E4-7FD014183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517" y="202146"/>
            <a:ext cx="6274374" cy="46667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AAE3FC7-80A9-487A-CEB6-9D1B7792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93" y="2640959"/>
            <a:ext cx="5619424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6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6667 -1.85185E-6 L -2.5E-6 -1.8518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7" grpId="0" animBg="1"/>
      <p:bldP spid="57" grpId="1" animBg="1"/>
      <p:bldP spid="5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7CAC44C-9ABD-46A2-8E88-645DEC627BD9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蓝色扁平化报告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652</Words>
  <Application>Microsoft Macintosh PowerPoint</Application>
  <PresentationFormat>宽屏</PresentationFormat>
  <Paragraphs>69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SimSun</vt:lpstr>
      <vt:lpstr>微软雅黑</vt:lpstr>
      <vt:lpstr>Arial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周 anna</cp:lastModifiedBy>
  <cp:revision>202</cp:revision>
  <dcterms:created xsi:type="dcterms:W3CDTF">2016-06-30T07:01:47Z</dcterms:created>
  <dcterms:modified xsi:type="dcterms:W3CDTF">2022-11-30T02:05:24Z</dcterms:modified>
</cp:coreProperties>
</file>